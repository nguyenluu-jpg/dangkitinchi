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t>BÁO CÁO TIẾN ĐỘ &amp; ĐÁNH GIÁ CHẤM THI ĐỒ ÁN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HỆ THỐNG ĐĂNG KÝ HỌC PHẦN TRỰC TUYẾN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Đề tài số 15 • Kiến trúc Clean Architecture phân lớp chuẩn (mô hình eShop) • ASP.NET Core Blazor (.NET 8) &amp; SQL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24231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4 PROJECT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Clean Architecture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CoreBusiness độc lập 0 ref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3474720"/>
            <a:ext cx="24231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9896" y="365760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9 BẢNG 3NF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SQL Server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Header-Line 1 Transaction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474720"/>
            <a:ext cx="24231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365760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2 LUẬT CHÍNH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CoreBusiness (6.0đ)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Tiên quyết &amp; Trùng lịch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2248" y="3474720"/>
            <a:ext cx="24231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5128" y="365760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Arial"/>
              </a:defRPr>
            </a:pPr>
            <a:r>
              <a:t>16 TIÊU CHÍ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K1.1 ĐẾN K5.1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Đạt 100% điểm tối đa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Sinh viên thực hiện: Nguyễn Thị Lưu  •  Ngành: Tin học Kinh tế  •  Khoa: Hệ thống Thông tin Kinh tế  •  Trường ĐH Kinh tế – Đại học Huế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TỔNG QUAN ĐÁNH GIÁ CHẤM 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BẢNG TRA CỨU 16 TIÊU CHÍ CHẤM THI (K1.1 ĐẾN K5.1)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Hệ thống đáp ứng trọn vẹn 100% tất cả các tiêu chí kỹ thuật và nghiệp vụ của đề tài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931920"/>
                <a:gridCol w="2651760"/>
                <a:gridCol w="1920240"/>
                <a:gridCol w="1218895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Mã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kiểm tra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Cách kiểm tra của Giảng viên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Vị trí trong mã nguồn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Tối đa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Đủ 4 project; CoreBusiness (0 ref); UseCases chỉ ref CoreBusiness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Mở file .csproj, xem ProjectReference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 project .csproj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8.0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K1.2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Interface repository ở UseCases, Plugin cài đặt; Razor inject interface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Tìm @inject trong .razor; Program.cs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UseCases / Program.cs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7.0 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 luật nghiệp vụ cài trong CoreBusiness / UseCases, không nằm trong .razor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Mở code EnrollmentValidationService.cs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CoreBusiness.Services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6.0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K1.4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 đăng ký đủ; giỏ / lựa chọn tạm dùng Scoped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Xem Program.cs (Dòng 57-60)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Program.cs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4.0 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Từ 5 bảng, 3NF, có khóa ngoại; script tạo bảng + dữ liệu chạy được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Chạy DangKyTinChi_Database.sql trên SSMS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Thư mục gốc .sql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8.0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K2.2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Cặp header–line ghi trong 1 transaction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Code BeginTransactionAsync trong Plugin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EnrollmentRepository.cs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6.0 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Mọi truy vấn tham số hóa, không nối chuỗi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Tìm $"SELECT, + "WHERE trong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Plugin DataStore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5.0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K2.4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Luồng giao dịch chính chạy end-to-end, dữ liệu lưu SQL 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Thêm giỏ -&gt; Gửi phiếu -&gt; Sĩ số tự tăng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Web -&gt; SQL 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6.0 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Ít nhất 3 component tái sử dụng có [Parameter] / EventCallback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Mở Components/Shared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SectionCard, Table...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6.0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K3.2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EditForm + DataAnnotations; lỗi nhập liệu hiển thị cạnh ô nhập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Demo nhập sai tại Login &amp; Quản trị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Login / ManageCourses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5.0 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Ca vi phạm 2 luật nghiệp vụ hiện thông báo thân thiện, không crash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Demo chọn môn thiếu tiên quyết &amp; trùng lịch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ValidationAlertComponent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4.0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K3.4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Dùng được trên màn hình điện thoại DevTools, bề rộng 390px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Mở F12 -&gt; iPhone 390px xem menu &amp; TKB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NavMenu / ScheduleTable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5.0 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Đăng nhập, đăng xuất; ít nhất 2 vai trò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Demo 2 role: Student (sv21001) &amp;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LoginComponent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4.0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K4.2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Tài khoản thường gõ thẳng URL trang quản trị bị chặn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Gõ /admin/courses -&gt; Bị chặn 403 Forbidden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AccessDeniedComponent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5.0 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Nâng cao: Thanh toán VietQR Napas247, Trợ lý AI và Xuất báo cáo (Excel/PDF)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Demo VietQR, Cố vấn AI và Xuất file PDF/Excel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Tuition &amp;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6.0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K5.1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 Case, Class, Sequence (PlantUML) khớp tên lớp và luồng 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 sánh sơ đồ với kiến trúc code thực tế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Sơ đồ Draw.io &amp; PUML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Tối đa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NHÓM TIÊU CHÍ K1 • KIẾN TRÚC PHẦN MỀM (19.0 ĐIỂM)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KIẾN TRÚC CLEAN ARCHITECTURE &amp; DEPENDENCY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Tổ chức mã nguồn theo 4 project phân lớp chuẩn eShop, đảo ngược phụ thuộc (DIP) nghiêm ngặt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K1.1 • Đủ 4 Project &amp; Quy tắc phụ thuộc (8.0đ)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CoreBusiness.csproj: Hoàn toàn 0 ProjectReference (Lõi độc lập tuyệt đối).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UseCases.csproj: Dòng 10-12 chỉ tham chiếu duy nhất CoreBusiness.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DataStore.SqlServer &amp; Web: Phụ thuộc hướng tâm vào UseCases và CoreBusiness, không bị vòng lặp.</a:t>
            </a:r>
          </a:p>
          <a:p>
            <a:br/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K1.2 • Interface ở UseCases, Plugin cài đặt (7.0đ)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Interface đặt tại UseCases/PluginInterfaces/DataStore/ (ICourseRepository, ISectionRepository...)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Plugin DataStore.SqlServer cài đặt Interface bằng EF Core DbContext.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File .razor 100% chỉ @inject Interface, tuyệt đối không phụ thuộc lớp cụ thể.</a:t>
            </a:r>
          </a:p>
          <a:p>
            <a:br/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K1.4 • Cấu hình DI Container &amp; Giỏ Scoped (4.0đ)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Program.cs (Dòng 57-60): Đăng ký AddScoped cho IRegistrationCartStateStore và ICurrentUserStateStore, đảm bảo giỏ hàng lưu phiên làm việc độc lập của từng sinh viên.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937760" cy="17534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TRỌNG TÂM ĐỒ ÁN • TIÊU CHÍ K1.3 (6.0Đ) &amp; K3.3 (4.0Đ)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CÀI ĐẶT 2 LUẬT NGHIỆP VỤ &amp; XỬ LÝ VI PHẠM THÂN THIỆN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Luật Tiên Quyết và Chống Trùng Lịch được đóng gói trong CoreBusiness, hiển thị cảnh báo đẹp mắt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K1.3 • Luật 1: Kiểm tra Học phần Tiên quyết (3.0đ)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Vị trí code: EnrollmentValidationService.cs (Dòng 26 - 43).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Thuật toán: Đối chiếu danh sách môn tiên quyết trong bảng Prerequisites với lịch sử tích lũy (CompletedCourses) của sinh viên (điểm &gt;= 4.0).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Kịch bản Demo: Sinh viên sv21002 (Trần Thị Mai) chưa học môn OOP (TIN102). Khi chọn môn Web (WEB301), hệ thống phát hiện và chặn ghi phiếu.</a:t>
            </a:r>
          </a:p>
          <a:p>
            <a:br/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K1.3 • Luật 2: Kiểm tra Chống Trùng Lịch học (3.0đ)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Vị trí code: EnrollmentValidationService.cs (Dòng 46 - 70).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Thuật toán: Lặp qua các buổi học (SectionSchedules) trong tuần, phát hiện trùng khi cùng Thứ (DayOfWeek) và giao nhau khoảng tiết (StartPeriod &lt;= other.EndPeriod &amp;&amp; EndPeriod &gt;= other.StartPeriod).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Kịch bản Demo: Sinh viên sv21001 chọn lớp WEB301_01 (Thứ 2 tiết 1-4) và TIN201_01 (Thứ 2 tiết 1-3). Hệ thống từ chối giao dịch.</a:t>
            </a:r>
          </a:p>
          <a:p>
            <a:br/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K3.3 • Thông báo vi phạm thân thiện (4.0đ)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Không bao giờ văng Exception/Crash. Hiển thị alert qua ValidationAlertComponent giải thích rõ: tên môn tiên quyết còn thiếu / mã lớp và khoảng tiết bị trùng.</a:t>
            </a:r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937760" cy="28417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NHÓM TIÊU CHÍ K2 • CƠ SỞ DỮ LIỆU &amp; TRANSACTION (25.0 ĐIỂM)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9 BẢNG 3NF &amp; GIAO DỊCH HEADER - LINE AN TOÀN TUYỆT ĐỐI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Dữ liệu lưu trữ trong Microsoft SQL Server, đảm bảo tính toàn vẹn ACID qua 1 Transaction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K2.1 • CSDL 9 Bảng Chuẩn 3NF (8.0đ)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File DangKyTinChi_Database.sql chạy thành công 100% trên CSDL trống.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9 bảng có khóa chính, khóa ngoại đầy đủ: Courses, Students, Prerequisites, Sections, SectionSchedules, CompletedCourses, Enrollments, EnrollmentLines, UserAccounts.</a:t>
            </a:r>
          </a:p>
          <a:p>
            <a:br/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K2.2 • Cặp Header–Line Ghi Trong 1 Transaction (6.0đ)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Vị trí code: EnrollmentRepository.cs (Dòng 83 - 114).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Sử dụng context.Database.BeginTransactionAsync() tường minh.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Ghi đồng thời bảng Enrollments (Header) và EnrollmentLines (Line). Nếu có lỗi tự động Rollback, không bao giờ để lại dòng đăng ký mồ côi.</a:t>
            </a:r>
          </a:p>
          <a:p>
            <a:br/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K2.3 &amp; K2.4 • Tham số hóa 100% &amp; Giao dịch End-to-End (11.0đ)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100% truy vấn dùng LINQ tham số hóa, không nối chuỗi SQL thô (chống SQL Injection).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Luồng End-to-End: Chọn môn -&gt; Đặt phiếu -&gt; Sĩ số CurrentEnrollment của lớp tự động tăng 1; Hủy môn sau hạn: Tự động trừ 1 nhả chỗ.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937760" cy="2116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NHÓM TIÊU CHÍ K3 • GIAO DIỆN &amp; TỐI ƯU TRẢI NGHIỆM (16.0 ĐIỂM)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COMPONENT TÁI SỬ DỤNG, FORM VALIDATION &amp; MOBILE 390PX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Thiết kế Responsive DevTools 390px, giao tiếp EventCallback 2 chiều, báo lỗi nhập liệu tức thì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K3.1 • 3 Component Tái Sử Dụng Chuẩn Blazor (6.0đ)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1. SectionCardComponent: [Parameter] Section, IsInCart; EventCallback OnAddToCart, OnRemoveFromCart.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2. ValidationAlertComponent: [Parameter] Errors; EventCallback OnDismiss.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3. ScheduleTableComponent: [Parameter] Sections, EventCallback&lt;Section&gt; OnSectionClick.</a:t>
            </a:r>
          </a:p>
          <a:p>
            <a:br/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K3.2 • EditForm + DataAnnotations (5.0đ)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Áp dụng tại LoginComponent, ManageCoursesComponent, ManageSectionsComponent.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Dùng &lt;DataAnnotationsValidator /&gt; và &lt;ValidationMessage For=...&gt; hiển thị lỗi đỏ ngay cạnh ô nhập liệu khi người dùng nhập sai.</a:t>
            </a:r>
          </a:p>
          <a:p>
            <a:br/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K3.4 • Dùng Được Trên Màn Hình Điện Thoại 390px (5.0đ)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Mở F12 DevTools -&gt; Chọn iPhone 12/14 Pro (Width: 390px).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Thanh menu co thành nút hamburger 3 gạch thu gọn.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Thời khóa biểu có chế độ Agenda xem theo ngày cuộn ngang, tối ưu hoàn hảo cho màn hình cảm ứng di động.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937760" cy="1632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NHÓM TIÊU CHÍ K4 • BẢO MẬT &amp; TÍNH NĂNG NÂNG CAO (15.0 ĐIỂM)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PHÂN QUYỀN 2 VAI TRÒ, CHẶN URL 403, TRỢ LÝ AI &amp; XUẤT BÁO CÁO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Bảo mật kiểm soát truy cập phân hệ Quản trị, tích hợp AI Cố vấn và xuất báo cáo PDF/Excel từ CSDL thật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K4.1 &amp; K4.2 • Phân Quyền &amp; Chặn URL Trang Quản Trị (9.0đ)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2 Vai trò rõ rệt: Sinh viên (sv21001-sv21007) và Quản trị viên Admin (admin/admin123).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Có nút Đăng xuất xóa phiên làm việc tức thì.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Chặn URL trực tiếp: Sinh viên hoặc khách chưa đăng nhập gõ thẳng /admin/courses hoặc /admin/enrollments lập tức bị chặn và chuyển về trang /access-denied (403 Forbidden).</a:t>
            </a:r>
          </a:p>
          <a:p>
            <a:br/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K4.3 • Tính Năng Nâng Cao: AI &amp; Xuất Báo Cáo (6.0đ)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1. Trợ lý Cố vấn AI (AiAdvisor &amp; AiAdminAssistant): Chatbot thông minh tư vấn học tập, kiểm tra điều kiện tiên quyết và gợi ý lộ trình môn học cho sinh viên.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2. Xuất báo cáo PDF &amp; Excel (ReportExportService): Sử dụng QuestPDF và ClosedXML xuất trực tiếp Danh sách lớp, Thời khóa biểu và Phiếu đăng ký từ CSDL SQL Server thật ra file .pdf và .xlsx theo mẫu chuẩn.</a:t>
            </a:r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937760" cy="23454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NHÓM TIÊU CHÍ K5 • THIẾT KẾ HỆ THỐNG (ĐIỂM TỐI ĐA)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SƠ ĐỒ USE CASE &amp; CLASS DIAGRAM KHỚP 100% VỚI MÃ NGUỒN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Thiết kế chuẩn hóa bằng PlantUML và Draw.io, đồng nhất tuyệt đối giữa phân tích và hiện thực</a:t>
            </a:r>
          </a:p>
        </p:txBody>
      </p:sp>
      <p:pic>
        <p:nvPicPr>
          <p:cNvPr id="6" name="Picture 5" descr="DangKiTinChi-Usecas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120640" cy="6436631"/>
          </a:xfrm>
          <a:prstGeom prst="rect">
            <a:avLst/>
          </a:prstGeom>
        </p:spPr>
      </p:pic>
      <p:pic>
        <p:nvPicPr>
          <p:cNvPr id="7" name="Picture 6" descr="DangKiTinChi-Sơ đồ Lớp 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120640" cy="29548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▲ Sơ đồ Use Case: 2 Actor Sinh viên &amp; Cán bộ, 3 Phân hệ, Include/Extend chuẩn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▲ Sơ đồ Lớp (Class Diagram): 9 Entity 3NF, Cặp Header-Line, Service kiểm tra luật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HƯỚNG DẪN THỰC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KỊCH BẢN DEMO 3 PHÚT DÀNH CHO GIẢNG VIÊN CHẤM 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Quy trình demo trực quan, dễ dàng thẩm định 16 tiêu chí chấm thi trong thời gian ngắn nhất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BƯỚC 1: DEMO 2 LUẬT NGHIỆP VỤ (K1.3, K3.3)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Đăng nhập sv21002 (chưa học OOP) -&gt; Đăng ký môn Web (WEB301) -&gt; Bị chặn Tiên quyết.</a:t>
            </a:r>
            <a:br/>
            <a:r>
              <a:t>• Đăng nhập sv21001 -&gt; Chọn lớp WEB301_01 (Thứ 2 tiết 1-4) &amp; TIN201_01 (Thứ 2 tiết 1-3) -&gt; Bị chặn Trùng lịch.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BƯỚC 2: DEMO PHÂN QUYỀN &amp; CHẶN URL (K4.1, K4.2)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Khi đang ở quyền Sinh viên, gõ trực tiếp URL /admin/courses trên thanh địa chỉ.</a:t>
            </a:r>
            <a:br/>
            <a:r>
              <a:t>• Hệ thống chặn ngay lập tức và điều hướng về trang HTTP 403 Access Denied.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BƯỚC 3: DEMO TRANSACTION HEADER-LINE &amp; HỦY MÔN (K2.2, K2.4)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Sinh viên gửi phiếu đăng ký -&gt; Dữ liệu ghi vào Enrollments &amp; EnrollmentLines trong 1 Transaction, sĩ số tăng 1.</a:t>
            </a:r>
            <a:br/>
            <a:r>
              <a:t>• Đăng nhập admin -&gt; Vào Rút môn cho SV -&gt; Sĩ số tự động trừ 1 nhả chỗ.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BƯỚC 4: DEMO XUẤT FILE EXCEL / PDF &amp; CỐ VẤN AI (K4.3)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Bấm nút 'Xuất Excel' hoặc 'Xuất PDF' tại trang danh sách lớp -&gt; File chuẩn tải về máy.</a:t>
            </a:r>
            <a:br/>
            <a:r>
              <a:t>• Vào mục 'Cố vấn AI' trò chuyện nhận tư vấn học phần theo học kỳ.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TỔNG KẾT BÁO CÁO TIẾN ĐỘ ĐỒ ÁN</a:t>
            </a:r>
          </a:p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HOÀN THÀNH 100% TIÊU CHÍ (K1.1 ĐẾN K5.1)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Đồ án Đăng ký Học phần Trực tuyến (Đề 15) tuân thủ nghiêm ngặt mô hình Clean Architecture,</a:t>
            </a:r>
            <a:br/>
            <a:r>
              <a:t>đầy đủ luật nghiệp vụ, giao dịch an toàn và tối ưu giao diện trải nghiệm người dùng.</a:t>
            </a:r>
          </a:p>
          <a:p>
            <a:br/>
            <a:pPr algn="ctr">
              <a:defRPr sz="1500" b="1">
                <a:solidFill>
                  <a:srgbClr val="2563EB"/>
                </a:solidFill>
                <a:latin typeface="Arial"/>
              </a:defRPr>
            </a:pPr>
            <a:r>
              <a:t>Kính chúc Thầy/Cô và Hội đồng chấm thi sức khỏe và công tác tốt!</a:t>
            </a:r>
            <a:br/>
            <a:r>
              <a:t>Xin chân thành cảm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