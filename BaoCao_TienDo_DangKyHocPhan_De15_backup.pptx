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499572" cy="71802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10249593" cy="564849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91840" y="1097280"/>
            <a:ext cx="5749634" cy="430818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40AF"/>
                </a:solidFill>
              </a:defRPr>
            </a:pPr>
            <a:r>
              <a:rPr sz="3000">
                <a:latin typeface="Times New Roman" panose="02020603050405020304" pitchFamily="18" charset="0"/>
                <a:cs typeface="Times New Roman" panose="02020603050405020304" pitchFamily="18" charset="0"/>
              </a:rPr>
              <a:t>BÁO CÁO TIẾN ĐỘ ĐỒ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4358"/>
            <a:ext cx="91246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72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ĐĂNG KÝ HỌC PHẦN TRỰC TUYẾN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11639"/>
            <a:ext cx="91246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75569"/>
                </a:solidFill>
              </a:defRPr>
            </a:pP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số 15 • Kiến trúc Clean Architecture phân lớp chuẩn (mô hình eShop)</a:t>
            </a:r>
            <a:b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Nền tảng công nghệ: ASP.NET Core Blazor (.NET 8) &amp; Microsoft SQL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335601"/>
            <a:ext cx="1706234" cy="876994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40AF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4 Project Phân Tầng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4335601"/>
            <a:ext cx="1706234" cy="876994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9 Bảng SQL 3NF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8656" y="4335601"/>
            <a:ext cx="1706234" cy="876994"/>
          </a:xfrm>
          <a:prstGeom prst="roundRect">
            <a:avLst/>
          </a:prstGeom>
          <a:solidFill>
            <a:srgbClr val="FFFFFF"/>
          </a:solidFill>
          <a:ln>
            <a:solidFill>
              <a:srgbClr val="109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955A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2 Luật CoreBusiness (6.0đ)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0024" y="4335601"/>
            <a:ext cx="1706234" cy="876994"/>
          </a:xfrm>
          <a:prstGeom prst="roundRect">
            <a:avLst/>
          </a:prstGeom>
          <a:solidFill>
            <a:srgbClr val="FFFFFF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2410C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Mobile 390px Chuẩn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4335601"/>
            <a:ext cx="1706234" cy="876994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Chặn URL 403 Forbidden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26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1 &amp; 2 • 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92957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 Project Clean Architecture &amp; Dependency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54741"/>
            <a:ext cx="82725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Quy tắc phụ thuộc nghiêm ngặt: CoreBusiness (0 ref) - UseCases - Plugin DataStore - Blazor Web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746617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9360" y="2138451"/>
            <a:ext cx="475488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A"/>
                </a:solidFill>
              </a:defRPr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1: Đủ 4 Project &amp; Quy tắc phụ thuộc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CoreBusiness.csproj: 0 ProjectReference (Không phụ thuộc tầng nào)</a:t>
            </a:r>
            <a:b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UseCases.csproj: Chỉ tham chiếu CoreBusiness (Dòng 10-12)</a:t>
            </a:r>
            <a:b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DataStore.SqlServer (Plugin) &amp; Web độc lập, không vi phạm vòng lặp.</a:t>
            </a: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2: Interface ở UseCases, Plugin cài đặt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Interface nằm tại UseCases/PluginInterfaces/DataStore/</a:t>
            </a:r>
            <a:b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Plugin DataStore.SqlServer cài đặt cụ thể</a:t>
            </a:r>
            <a:b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File Razor 100% chỉ @inject ICourseRepository, IStudentRepository...</a:t>
            </a: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Cấu hình DI Container tại Program.cs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Đăng ký AddScoped cho Repositories &amp; Giỏ hàng (K1.4)</a:t>
            </a:r>
            <a:b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Đăng ký AddTransient cho tất cả nghiệp vụ UseCases.</a:t>
            </a:r>
          </a:p>
        </p:txBody>
      </p:sp>
      <p:pic>
        <p:nvPicPr>
          <p:cNvPr id="8" name="Picture 7" descr="code_tc1_tc2_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886" y="2710988"/>
            <a:ext cx="5741156" cy="2038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3 &amp; 10 • TRỌNG TÂM ĐỒ ÁN (6.0 ĐIỂM)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958" y="746791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 Luật Nghiệp Vụ Cài Đặt Trong CoreBusiness &amp; Xử Lý Thân Thiện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140" y="1307902"/>
            <a:ext cx="57881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Cài đặt tại </a:t>
            </a: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EnrollmentValidationService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.cs - Giỏ Scoped - Báo lỗi chi tiết không văng crash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015" y="1820246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9147" y="2212080"/>
            <a:ext cx="47548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Luật 1: Kiểm tra học phần tiên quyết </a:t>
            </a:r>
            <a:endParaRPr lang="vi-V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lang="vi-VN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Vị trí: EnrollmentValidationService.cs (Dòng 26-43)</a:t>
            </a:r>
            <a:br>
              <a:rPr lang="vi-VN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Sinh viên phải tích lũy các môn tiên quyết (điểm &gt;= 4.0)</a:t>
            </a:r>
            <a:br>
              <a:rPr lang="vi-VN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DEMO THỰC TẾ: Sinh viên sv21002 chưa học TIN102, khi chọn WEB301 hệ thống chặn lại và báo rõ tên môn còn thiếu.</a:t>
            </a: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Luật 2: Kiểm tra chống trùng lịch học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Vị trí: EnrollmentValidationService.cs (Dòng 46-70)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Phát hiện trùng khi cùng Thứ (DayOfWeek) và giao nhau khoảng tiết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DEMO THỰC TẾ: Lớp WEB301_01 (Thứ 2 tiết 1-4) trùng với TIN201_01 (Thứ 2 tiết 1-3). Hệ thống từ chối ghi phiếu.</a:t>
            </a: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10: Xử lý vi phạm thân thiện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Hiển thị qua ValidationAlertComponent chuyên dụng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Không văng exception/crash, giữ nguyên trạng thái phiên.</a:t>
            </a:r>
          </a:p>
        </p:txBody>
      </p:sp>
      <p:pic>
        <p:nvPicPr>
          <p:cNvPr id="8" name="Picture 7" descr="code_tc3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2470932"/>
            <a:ext cx="5916044" cy="3404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4, 5 &amp; 7 • CƠ SỞ DỮ LIỆU &amp;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2113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 Bảng Chuẩn 3NF &amp; Giao Dịch Header - Line Tường Minh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0753"/>
            <a:ext cx="72058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Toàn vẹn dữ liệu trong Microsoft SQL Server - Không rách dữ liệu - Cập nhật sĩ số thời gian thực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7527" y="2051134"/>
            <a:ext cx="475488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4: Hệ CSDL 9 bảng chuẩn 3NF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Script DangKyTinChi_Database.sql chạy trên CSDL trống 100% 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Đầy đủ Primary Key, Foreign Key, Check Constraint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9 bảng: Courses, Students, Prerequisites, Sections, SectionSchedules, CompletedCourses, Enrollments, EnrollmentLines, UserAccounts.</a:t>
            </a: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5: Cặp Header - Line trong 1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Vị trí: EnrollmentRepository.cs (Dòng 83-114)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Dùng context.Database.BeginTransactionAsync() tường minh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Ghi Enrollments (Header) và EnrollmentLines (Lines) đồng thời.</a:t>
            </a: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7: Luồng giao dịch End-to-End thực tế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Thêm giỏ -&gt; Đặt phiếu -&gt; Sĩ số CurrentEnrollment tự động tăng 1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Hủy môn / Rút môn sau hạn: Tự động giảm sĩ số nhả chỗ.</a:t>
            </a:r>
          </a:p>
        </p:txBody>
      </p:sp>
      <p:pic>
        <p:nvPicPr>
          <p:cNvPr id="8" name="Picture 7" descr="code_tc5_trans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2" y="2431473"/>
            <a:ext cx="5649191" cy="2421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09193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6 &amp; MINH CHỨNG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Truy Vấn Tham Số Hóa 100% &amp; Minh Chứng Tra Cứu Học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65934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EF Core LINQ Parameterized - An toàn chống SQL Injection - Giao diện trực quan cho sinh viên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092055"/>
            <a:ext cx="4754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A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6: 100% Truy vấn tham số hóa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Toàn bộ tầng DataStore dùng LINQ của EF Core (.Where, .FindAsync)</a:t>
            </a:r>
            <a:b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Không ghép chuỗi câu lệnh SQL, triệt tiêu nguy cơ SQL Injection.</a:t>
            </a:r>
            <a:b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Mọi dữ liệu tra cứu &amp; lọc đều được tham số hóa an toàn.</a:t>
            </a:r>
          </a:p>
        </p:txBody>
      </p:sp>
      <p:pic>
        <p:nvPicPr>
          <p:cNvPr id="8" name="Picture 7" descr="code_tc4_sql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2806"/>
            <a:ext cx="4846320" cy="1720938"/>
          </a:xfrm>
          <a:prstGeom prst="rect">
            <a:avLst/>
          </a:prstGeom>
        </p:spPr>
      </p:pic>
      <p:pic>
        <p:nvPicPr>
          <p:cNvPr id="9" name="Picture 8" descr="sections_page_17921652396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9" y="1600199"/>
            <a:ext cx="6057337" cy="30861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5303520"/>
            <a:ext cx="53949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▲ Hình ảnh thực tế Web App: Trang Tra cứu &amp; Đăng ký Lớp học phần. Hiển thị rõ mã lớp, giảng viên, phòng học, sĩ số hiện tại / tối đa và trạng thái điều kiện tiên quyết.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8 &amp; 9 • THIẾT KẾ COMPONENT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1224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 Component Tái Sử Dụng &amp; Form DataAnnotations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0541"/>
            <a:ext cx="572464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Đóng gói UI sạch sẽ - </a:t>
            </a: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EventCallback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tương tác 2 chiều - Lỗi nhập liệu báo ngay cạnh ô nhập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8742"/>
            <a:ext cx="5120640" cy="465777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107" y="2217110"/>
            <a:ext cx="4493029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8: 3 Component Tái Sử Dụng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1. SectionCardComponent: [Parameter] Section, IsInCart, EventCallback OnAddToCart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2. ValidationAlertComponent: [Parameter] Errors, EventCallback OnDismiss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3. ScheduleTableComponent: [Parameter] Sections, EventCallback OnSectionClick</a:t>
            </a:r>
            <a:endParaRPr lang="vi-V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endParaRPr lang="vi-V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9: EditForm + DataAnnotations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Áp dụng tại LoginComponent, ManageCoursesComponent, ManageSectionsComponent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Lỗi hiển thị ValidationMessage cạnh ô nhập.</a:t>
            </a:r>
          </a:p>
        </p:txBody>
      </p:sp>
      <p:pic>
        <p:nvPicPr>
          <p:cNvPr id="8" name="Picture 7" descr="code_tc9_edi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511" y="4457439"/>
            <a:ext cx="5820627" cy="1924371"/>
          </a:xfrm>
          <a:prstGeom prst="rect">
            <a:avLst/>
          </a:prstGeom>
        </p:spPr>
      </p:pic>
      <p:pic>
        <p:nvPicPr>
          <p:cNvPr id="9" name="Picture 8" descr="code_tc8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6" y="1788742"/>
            <a:ext cx="5775959" cy="2192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11, 12 &amp; 13 • MOBILE RESPONSIVE &amp; BẢO MẬT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7624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Tối Ưu Mobile 390px, 2 Vai Trò &amp; Chặn URL Trang Quản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03840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Thời khóa biểu sinh viên chuẩn tuần - 2 Role Student/Admin - Chặn URL 403 Forbidden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62960"/>
            <a:ext cx="4754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11: Tối ưu Mobile DevTools 390px (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Giao diện co giãn hoàn hảo, có chế độ Agenda xem TKB cuộn ngang</a:t>
            </a:r>
            <a:b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Menu hamburger thu gọn chuẩn di động.</a:t>
            </a:r>
          </a:p>
          <a:p>
            <a:pPr>
              <a:defRPr sz="1200" b="1">
                <a:solidFill>
                  <a:srgbClr val="10955A"/>
                </a:solidFill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Tiêu chí 12 &amp; 13: 2 Vai Trò &amp; Chặn URL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403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Vai trò Student (sv21001-sv21007) &amp; Quản trị Admin</a:t>
            </a:r>
            <a:b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• Gõ thẳng URL /admin/* khi không phải Admin bị chặn ngay về trang /access-denied (403 Forbidden).</a:t>
            </a:r>
          </a:p>
        </p:txBody>
      </p:sp>
      <p:pic>
        <p:nvPicPr>
          <p:cNvPr id="8" name="Picture 7" descr="code_tc13_url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18600"/>
            <a:ext cx="4846320" cy="1483567"/>
          </a:xfrm>
          <a:prstGeom prst="rect">
            <a:avLst/>
          </a:prstGeom>
        </p:spPr>
      </p:pic>
      <p:pic>
        <p:nvPicPr>
          <p:cNvPr id="9" name="Picture 8" descr="schedule_page_17921652659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1924712"/>
            <a:ext cx="5394960" cy="25626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4447" y="4999988"/>
            <a:ext cx="539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▲ Hình ảnh thực tế Web App: Trang Thời Khóa Biểu Sinh Viên trực quan theo tuần (Thứ 2 - CN, các ca sáng/chiều) kèm phòng học, giảng viên và sĩ số đã cập nhật.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9531DD7-505B-15B0-1017-CA74ECC3CAE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315D80-8F02-B32D-B815-656FF45CD60C}"/>
              </a:ext>
            </a:extLst>
          </p:cNvPr>
          <p:cNvSpPr txBox="1"/>
          <p:nvPr/>
        </p:nvSpPr>
        <p:spPr>
          <a:xfrm>
            <a:off x="731520" y="32004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lang="vi-VN" sz="2400"/>
              <a:t>Tính Năng Nâng Cao: AI &amp; Xuất Báo Cáo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0EADEA4B-C507-36BA-570C-57478A0E989A}"/>
              </a:ext>
            </a:extLst>
          </p:cNvPr>
          <p:cNvSpPr/>
          <p:nvPr/>
        </p:nvSpPr>
        <p:spPr>
          <a:xfrm>
            <a:off x="731520" y="1101744"/>
            <a:ext cx="5161806" cy="55692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C9F782-0045-F672-9C42-5AAC21C5E7CF}"/>
              </a:ext>
            </a:extLst>
          </p:cNvPr>
          <p:cNvSpPr txBox="1"/>
          <p:nvPr/>
        </p:nvSpPr>
        <p:spPr>
          <a:xfrm>
            <a:off x="914400" y="1464505"/>
            <a:ext cx="47548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lang="vi-V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1. Trợ lý Cố vấn AI (AiAdvisor &amp; AiAdminAssistant): 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Chatbot thông minh tư vấn học tập, kiểm tra điều kiện tiên quyết và gợi ý lộ trình môn học cho sinh viên.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endParaRPr lang="vi-V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lang="vi-V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2. Xuất báo cáo PDF &amp; Excel (ReportExportService):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lang="vi-V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QuestPDF và ClosedXML xuất trực tiếp Danh sách lớp, Thời khóa biểu và Phiếu đăng ký từ CSDL SQL Server thật ra file .pdf và .xlsx theo mẫu chuẩn.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4647A2E-85E9-F4DF-6417-48ABB293B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673245"/>
            <a:ext cx="5893327" cy="336152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6C1AFFD-7A18-0CCA-D059-ACDEE4163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30428"/>
            <a:ext cx="4614578" cy="217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07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19" y="1600200"/>
            <a:ext cx="11218025" cy="3855027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3116" y="3152001"/>
            <a:ext cx="10283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</a:defRPr>
            </a:pP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 và các bạn đã lắng nghe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1174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Thị Lưu</cp:lastModifiedBy>
  <cp:revision>3</cp:revision>
  <dcterms:created xsi:type="dcterms:W3CDTF">2013-01-27T09:14:16Z</dcterms:created>
  <dcterms:modified xsi:type="dcterms:W3CDTF">2026-10-19T16:25:52Z</dcterms:modified>
  <cp:category/>
</cp:coreProperties>
</file>